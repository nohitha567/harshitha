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2" r:id="rId4"/>
  </p:sldMasterIdLst>
  <p:notesMasterIdLst>
    <p:notesMasterId r:id="rId21"/>
  </p:notesMasterIdLst>
  <p:handoutMasterIdLst>
    <p:handoutMasterId r:id="rId22"/>
  </p:handoutMasterIdLst>
  <p:sldIdLst>
    <p:sldId id="256" r:id="rId5"/>
    <p:sldId id="349" r:id="rId6"/>
    <p:sldId id="270" r:id="rId7"/>
    <p:sldId id="362" r:id="rId8"/>
    <p:sldId id="271" r:id="rId9"/>
    <p:sldId id="350" r:id="rId10"/>
    <p:sldId id="361" r:id="rId11"/>
    <p:sldId id="339" r:id="rId12"/>
    <p:sldId id="304" r:id="rId13"/>
    <p:sldId id="354" r:id="rId14"/>
    <p:sldId id="355" r:id="rId15"/>
    <p:sldId id="337" r:id="rId16"/>
    <p:sldId id="364" r:id="rId17"/>
    <p:sldId id="346" r:id="rId18"/>
    <p:sldId id="347" r:id="rId19"/>
    <p:sldId id="34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05" autoAdjust="0"/>
  </p:normalViewPr>
  <p:slideViewPr>
    <p:cSldViewPr snapToGrid="0">
      <p:cViewPr>
        <p:scale>
          <a:sx n="66" d="100"/>
          <a:sy n="66" d="100"/>
        </p:scale>
        <p:origin x="494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1CF908-B9F8-4D75-9563-AB61F9135D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EC0F2-C9ED-4E40-9090-1AABA509E0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24071-69B2-40A7-B3EA-674584CE017F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43BCB-1A9C-419E-A510-1B43D44FD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ECDCF-FA4F-4A45-8FAD-9C923EE306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A0F0C-BE24-43A8-A6ED-60EC67C28C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89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6B909-20DD-493C-AC6E-6A09AF3AE40E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A3186-490C-4963-9CE5-58096C2F0B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6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A3186-490C-4963-9CE5-58096C2F0BE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789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A3186-490C-4963-9CE5-58096C2F0BE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4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9C84-D84D-69A7-B753-026F1247E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D9406-8C24-E8EE-7140-2D39344C8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7CFEA-93F0-2861-F865-3E6F025B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271F-D015-BD2F-5C1C-10F3D1264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FDEBC-8C9C-186F-5818-4909D28A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50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A671-7D0D-2857-8BF8-E8C663B7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6DF6B-88D8-0799-C6E2-364F6D5D1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75405-33D5-0994-B5EE-F924E694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67F4D-0913-4016-8CDD-3436AF94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9E9D5-804A-41B8-E0EF-ABF94BE3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77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E99D-63B9-5280-99B0-6A72DDB4E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9CD19-99F6-DA25-3A60-F3D0AB5B8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E91F2-A1D6-9CDB-9F9C-A56BDA6B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EEC0C-2A80-6888-DB51-51809AB1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CBF1B-CC3D-69EA-20DA-153D04DF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5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ACD5-3D98-7F68-CCBA-353BA2DD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6BA6C-5AD7-0544-B674-61B04ADAD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AAE5C-EDB9-6E96-60BE-3C8182AAA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190AC-4297-2D8C-D84E-ACEF8CF80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894CC-ED04-A83E-43AC-B1F70DF70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69D7D-DB55-514B-CA2B-5C7AC39F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6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4FC0-AA2A-AD5A-3E75-0065EB70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D5AEC-291A-5311-7790-33848AFD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7FB18-51FA-2502-4003-787AE528D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C1CBA-C1CB-1D79-AAF1-1A4EDAF6D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15333-C841-0BC4-2563-1310F3902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A8A98-A045-5EAE-A93E-A316B929C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99EA5-4965-7CD6-8F4C-7561B31F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31DD6-7FE4-2935-6029-9CA8B42E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03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8F72-B202-0917-DC90-78613DFF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D73B2-3A5E-A43F-85FA-37916CFD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26055-F578-5A9A-1C44-6381A230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5E107-90BB-E373-5126-3DBEA3D47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7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E24BF6-E0D1-654F-96FB-644E77B8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071A0-B0D9-3DDA-2D6D-B73C45702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81EF2-0D87-E6BA-7908-DEEF6263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13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4D67-7139-5D09-A643-8ADCC451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296F1-5115-9053-52CE-298FB1BB0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C1A90-E3BD-60B6-F87B-FEFFF36F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56A3F-12D8-FDCF-AF6D-C968E3A9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872B9-F342-6C8E-B523-826E6A66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0D710-8E73-F2BC-18C2-7EC00169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3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1551-C305-E89A-8798-0AEEABF0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2A6210-A4F8-EB15-F21C-714CF2175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86C20-F555-D610-133F-775B115D8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FA505-BF44-8BDC-D382-22AE0488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3021F-3733-70E2-3448-60A3B6D4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CD150-42FC-0C32-C082-914600F7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80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8829-6A8B-1100-E2F5-C8EB707C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52D6B-1127-D142-F8CD-BDCC1D63F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04AA6-FBB9-A9E6-256C-04B75F3E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D600-97A8-04B0-C355-8D407E72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4307F-AEF4-B384-3E32-495DBB37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5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F39281-395D-BE8F-D01C-B3D4B74B2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24383-6D31-1F38-56A0-F4C1D8DD0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0108C-2C56-09F1-7884-A7D2A518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6907-2334-0E49-53FB-A4272542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5CFAE-1828-92A8-74A1-8E4830F13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9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50091-8188-053E-9A66-5D4116D1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42E44-6DCF-E917-70BB-A20ADDE51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E0CC-B978-4F07-194A-A6EA5D89C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AF98B-E622-C725-5AD5-971472B3E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5F69B-8253-B176-13D1-973457BB7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7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677807" TargetMode="External"/><Relationship Id="rId2" Type="http://schemas.openxmlformats.org/officeDocument/2006/relationships/hyperlink" Target="https://ieeexplore.ieee.org/document/1053349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imumi17/Autism-Prediction-Using-Machine-Learning" TargetMode="External"/><Relationship Id="rId5" Type="http://schemas.openxmlformats.org/officeDocument/2006/relationships/hyperlink" Target="https://jamanetwork.com/journals/jamanetworkopen/fullarticle/2822394" TargetMode="External"/><Relationship Id="rId4" Type="http://schemas.openxmlformats.org/officeDocument/2006/relationships/hyperlink" Target="https://www.sciencedirect.com/science/article/pii/S1877050920308656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4D57-151E-4936-9AF4-E70073D4E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2918" y="2224078"/>
            <a:ext cx="7272982" cy="1806295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Autism Spectrum Disorder Using ML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70FC1-A32E-43A6-9E96-92974CB5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9409" y="5076720"/>
            <a:ext cx="6815669" cy="1320802"/>
          </a:xfrm>
        </p:spPr>
        <p:txBody>
          <a:bodyPr>
            <a:normAutofit fontScale="77500" lnSpcReduction="20000"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Harshitha – 23RH1A05K5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Sushmitha – 23RH1A05N0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Thapana – 23RH1A05N9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5370FC1-A32E-43A6-9E96-92974CB54F20}"/>
              </a:ext>
            </a:extLst>
          </p:cNvPr>
          <p:cNvSpPr txBox="1">
            <a:spLocks/>
          </p:cNvSpPr>
          <p:nvPr/>
        </p:nvSpPr>
        <p:spPr>
          <a:xfrm>
            <a:off x="-794917" y="5076720"/>
            <a:ext cx="6815669" cy="1320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Subba Rao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51" y="134230"/>
            <a:ext cx="10058400" cy="17205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60800" y="1854746"/>
            <a:ext cx="5212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969913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DB317-79F4-5CC8-4FCF-8B0605C7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2FAF-A091-5D39-86ED-A9A1C87C7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074" y="859338"/>
            <a:ext cx="9601196" cy="53203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CE35-1485-2CD3-1FA6-4CA9DC85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0" y="1913467"/>
            <a:ext cx="9756877" cy="40645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ASD: Lifelong neurodevelopmental disorder affecting social interaction, communication, and behavior.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Prevalence: Affects millions globally; early diagnosis leads to better support and outcomes.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Motivation: Allows data-driven, scalable, and potentially more accurate detection using existing datasets.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35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DAED-9C31-E6A9-9B6D-F73CFA1AA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437" y="356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EXSISTING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436" y="1681624"/>
            <a:ext cx="9931564" cy="2612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via clinical interviews, behavioral observations, and standardized questionnaires.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subjective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clinician expertise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and accessibility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miss subtle cases or lead to late diagnosis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56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6320" y="559999"/>
            <a:ext cx="10231120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40489-28CE-634C-A2A2-B27C91B787E9}"/>
              </a:ext>
            </a:extLst>
          </p:cNvPr>
          <p:cNvSpPr txBox="1"/>
          <p:nvPr/>
        </p:nvSpPr>
        <p:spPr>
          <a:xfrm>
            <a:off x="982079" y="1464609"/>
            <a:ext cx="10339602" cy="2612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Use machine learning to analyze behavioral and demographic data for ASD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Preprocessing → Feature Selection → Model Training →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speed and accuracy of screening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scalable support for clinicians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11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C07C-77A8-D608-C938-A402A5347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ADDED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EDB570-0211-7641-39EE-ACD166000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343840"/>
            <a:ext cx="10645878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Accepts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 inputs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(M-CHAT/ AQ test ) and demographic details.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It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models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ASD risk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translation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Hindi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Telugu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voice assistant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read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risk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chosen selected language.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🔹Integrated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charts for symptom distribution.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Bar/line charts for model accuracy, recall, and AUC metrics.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Tracks and displays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Evaluated / searched Assessments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user.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5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F6E0F-2626-31C9-D129-CCB1D37D7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472175B-3906-9208-408C-AD2876943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570" y="1651906"/>
            <a:ext cx="9173849" cy="3910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Frameworks: TensorFlow, Scikit-learn,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Programming Languages: Python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APIs: Google Translate API,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(Text-to-Speech)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Visualization Tools: Matplotlib, Seaborn, Chart.js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Database: MongoDB / MySQL (for storing user data, test results)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Frontend (optional): React / HTML / CSS for dashboard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Environment: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VS Code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05F2CF-AC05-37D7-D812-CB67717D6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717851"/>
              </p:ext>
            </p:extLst>
          </p:nvPr>
        </p:nvGraphicFramePr>
        <p:xfrm>
          <a:off x="1167580" y="4554583"/>
          <a:ext cx="10515600" cy="65403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30545382"/>
                    </a:ext>
                  </a:extLst>
                </a:gridCol>
              </a:tblGrid>
              <a:tr h="65403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578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64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6176" y="551934"/>
            <a:ext cx="6813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08A27-074A-936C-4576-7EA0DDDA7F03}"/>
              </a:ext>
            </a:extLst>
          </p:cNvPr>
          <p:cNvSpPr txBox="1"/>
          <p:nvPr/>
        </p:nvSpPr>
        <p:spPr>
          <a:xfrm>
            <a:off x="2418735" y="2015614"/>
            <a:ext cx="6298786" cy="233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scalable screening.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subjectivity; consistent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identify patterns missed by clinicians.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healthcare professionals, not replaces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integration into telemedicine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design considers privacy and fairness.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97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6D75-9647-93D2-CBBB-B91AB779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013" y="345461"/>
            <a:ext cx="10515600" cy="956726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4764F0-56AC-09D9-669E-B7466048E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013" y="1136953"/>
            <a:ext cx="10862187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login/signup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session management for users/clinicians.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questionnaire data and demographic information.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Multilingual Translation Module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Translates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insights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English, Hindi, or Telugu.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ML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 and predicts ASD risk using trained TensorFlow model.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visual reports like symptom distribution and accuracy charts.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History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previous predictions and “most evaluated” users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65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884BF-AD01-FA73-EBFE-878862EC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1CFC76-9D4A-558C-508B-9D4DCC5ADF2B}"/>
              </a:ext>
            </a:extLst>
          </p:cNvPr>
          <p:cNvSpPr txBox="1"/>
          <p:nvPr/>
        </p:nvSpPr>
        <p:spPr>
          <a:xfrm>
            <a:off x="3488251" y="383434"/>
            <a:ext cx="419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 ARCHITECTURE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574F231-F8B9-4F84-3009-B182F94E9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111829" y="1077686"/>
            <a:ext cx="6881311" cy="539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108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829C-B611-6387-2C9D-F2474CD8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3221F8-E90C-9705-8833-3ED79C749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113" y="3359116"/>
            <a:ext cx="7141029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D8D55-D45F-4D5D-5E48-52B60DD92B69}"/>
              </a:ext>
            </a:extLst>
          </p:cNvPr>
          <p:cNvSpPr txBox="1"/>
          <p:nvPr/>
        </p:nvSpPr>
        <p:spPr>
          <a:xfrm>
            <a:off x="2079171" y="1589313"/>
            <a:ext cx="86214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Python, TensorFlow, and Scikit-learn.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user interface with HTML, CSS, and JS (optional).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Google Translate API for multilingual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AI voice narration.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data visualization dashboards for model accuracy and symptom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all user data and prediction results in a MongoDB/MySQL database.</a:t>
            </a:r>
          </a:p>
        </p:txBody>
      </p:sp>
    </p:spTree>
    <p:extLst>
      <p:ext uri="{BB962C8B-B14F-4D97-AF65-F5344CB8AC3E}">
        <p14:creationId xmlns:p14="http://schemas.microsoft.com/office/powerpoint/2010/main" val="186318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56C5-0C3D-CFE4-4A7C-562E7238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15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23204E-A744-54CF-A57C-ACC6162D9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7771" y="1934751"/>
            <a:ext cx="8665030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testing: Checked module connectivity and correct output for inputs.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 Accuracy, Recall, Precision, and ROC-AUC scores computed.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testing: Ensured usability of multilingual and voice features.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testing: Verified performance, reliability, and data privacy.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29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2DDC-7ED1-D559-8919-11FFB69F81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2955" y="123057"/>
            <a:ext cx="10869613" cy="98583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43599-2F8C-1A8F-7797-79CE4F36D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83" y="871820"/>
            <a:ext cx="4637025" cy="55754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6322B5-1DD0-4CBE-5A63-97D8A3CCA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155" y="1285268"/>
            <a:ext cx="6120245" cy="494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96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EEE8F-B3A6-50E5-1C4E-97791B119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603" y="219919"/>
            <a:ext cx="6449557" cy="638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12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CF44-AFB0-7095-AEB9-F269F9B61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74"/>
          </a:xfrm>
        </p:spPr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71881-8B65-4F4F-DFD7-7CD8755239DB}"/>
              </a:ext>
            </a:extLst>
          </p:cNvPr>
          <p:cNvSpPr txBox="1"/>
          <p:nvPr/>
        </p:nvSpPr>
        <p:spPr>
          <a:xfrm>
            <a:off x="739878" y="1400199"/>
            <a:ext cx="10318956" cy="2540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8500" indent="-285750" algn="just">
              <a:lnSpc>
                <a:spcPct val="150000"/>
              </a:lnSpc>
              <a:spcBef>
                <a:spcPts val="505"/>
              </a:spcBef>
              <a:buFont typeface="Arial" panose="020B0604020202020204" pitchFamily="34" charset="0"/>
              <a:buChar char="•"/>
            </a:pPr>
            <a:r>
              <a:rPr lang="en-US" dirty="0"/>
              <a:t>The proposed ASD Prediction System successfully demonstrates how </a:t>
            </a:r>
            <a:r>
              <a:rPr lang="en-US" b="1" dirty="0"/>
              <a:t>Machine Learning</a:t>
            </a:r>
            <a:r>
              <a:rPr lang="en-US" dirty="0"/>
              <a:t> and </a:t>
            </a:r>
            <a:r>
              <a:rPr lang="en-US" b="1" dirty="0"/>
              <a:t>Artificial Intelligence</a:t>
            </a:r>
            <a:r>
              <a:rPr lang="en-US" dirty="0"/>
              <a:t> can be applied to support early screening of Autism Spectrum Disorder.</a:t>
            </a:r>
            <a:br>
              <a:rPr lang="en-US" dirty="0"/>
            </a:br>
            <a:r>
              <a:rPr lang="en-US" dirty="0"/>
              <a:t>By combining </a:t>
            </a:r>
            <a:r>
              <a:rPr lang="en-US" b="1" dirty="0"/>
              <a:t>behavioral questionnaires</a:t>
            </a:r>
            <a:r>
              <a:rPr lang="en-US" dirty="0"/>
              <a:t>, </a:t>
            </a:r>
            <a:r>
              <a:rPr lang="en-US" b="1" dirty="0"/>
              <a:t>automated risk prediction</a:t>
            </a:r>
            <a:r>
              <a:rPr lang="en-US" dirty="0"/>
              <a:t>, </a:t>
            </a:r>
            <a:r>
              <a:rPr lang="en-US" b="1" dirty="0"/>
              <a:t>multilingual support</a:t>
            </a:r>
            <a:r>
              <a:rPr lang="en-US" dirty="0"/>
              <a:t>, and </a:t>
            </a:r>
            <a:r>
              <a:rPr lang="en-US" b="1" dirty="0"/>
              <a:t>AI-based voice assistance</a:t>
            </a:r>
            <a:r>
              <a:rPr lang="en-US" dirty="0"/>
              <a:t>, the system makes ASD assessment faster, more accessible, and user-friendly.</a:t>
            </a:r>
            <a:br>
              <a:rPr lang="en-US" dirty="0"/>
            </a:br>
            <a:r>
              <a:rPr lang="en-US" dirty="0"/>
              <a:t>Through integrated </a:t>
            </a:r>
            <a:r>
              <a:rPr lang="en-US" b="1" dirty="0"/>
              <a:t>analytics and explainability modules</a:t>
            </a:r>
            <a:r>
              <a:rPr lang="en-US" dirty="0"/>
              <a:t>, it provides clinicians with deeper insights into key behavioral indicators, enhancing the accuracy and reliability of early diagnosis.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462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226F-565E-8653-657E-301BAB41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24219-DE08-E6D9-514F-CAFFBE0AC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S. Dash, S. Pati, B. K. Sahu, and S. S. Rath, “Autism Spectrum Disorder Prediction Using Machine Learning,”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3rd International Conference on Artificial Intelligence and Signal Processing (AISP)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pp. 1–6, 2024. Available: 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https://ieeexplore.ieee.org/document/10533493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N.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Dhameliya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H. Chaudhary, and K. R. Rathod, “Autism Spectrum Disorder Prediction Using Machine Learning,”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8th International Conference on Computing, Communication, Control and Automation (ICCUBEA)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pp. 1–8, 2024. Available: 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https://ieeexplore.ieee.org/document/10677807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A. Hussain, S. A. Khan, and A. S. Hussain, “Analysis and Detection of Autism Spectrum Disorder Using Machine Learning,”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Procedia Computer Science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167, pp. 234–240, 2020. Available: 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https://www.sciencedirect.com/science/article/pii/S1877050920308656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M. J. Kosmicki, J. P.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Sochat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Duda, et al., “Machine Learning Prediction of Autism Spectrum Disorder,”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JAMA Network Open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3, pp. e232394, 2024. Available: 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https://jamanetwork.com/journals/jamanetworkopen/fullarticle/2822394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I. M. Umi, “Autism Prediction Using Machine Learning – GitHub,” [Online]. Available: 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https://github.com/imumi17/Autism-Prediction-Using-Machine-Learning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4282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F473B2-A4F7-CF2F-F7DF-B643EBD0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8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5A39CB-C45B-4F08-829C-AB9550EE08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C6F0FA-5858-4AD1-8F89-D32310719A5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F92F16A-38EE-4C9D-AFD3-2845EC2D90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</TotalTime>
  <Words>975</Words>
  <Application>Microsoft Office PowerPoint</Application>
  <PresentationFormat>Widescreen</PresentationFormat>
  <Paragraphs>98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Predicting Autism Spectrum Disorder Using ML</vt:lpstr>
      <vt:lpstr>INTRODUCTION </vt:lpstr>
      <vt:lpstr>EXSISTING SYSTEM</vt:lpstr>
      <vt:lpstr>PowerPoint Presentation</vt:lpstr>
      <vt:lpstr>FEATURES ADDED</vt:lpstr>
      <vt:lpstr>TECHNOLOGIES USED</vt:lpstr>
      <vt:lpstr>PowerPoint Presentation</vt:lpstr>
      <vt:lpstr>MODULES USED</vt:lpstr>
      <vt:lpstr>PowerPoint Presentation</vt:lpstr>
      <vt:lpstr>IMPLEMENTATION</vt:lpstr>
      <vt:lpstr>TESTING AND VALIDATION</vt:lpstr>
      <vt:lpstr>OUTPUT SCREENS </vt:lpstr>
      <vt:lpstr>PowerPoint Presentation</vt:lpstr>
      <vt:lpstr>CONCLUSION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ParkEZE SMART VEHICLE PARKING SYSTEM</dc:title>
  <dc:creator>mahalaxmi vijayagiri</dc:creator>
  <cp:lastModifiedBy>Gajamsushmitha2005@outlook.com</cp:lastModifiedBy>
  <cp:revision>26</cp:revision>
  <dcterms:created xsi:type="dcterms:W3CDTF">2024-08-30T13:56:57Z</dcterms:created>
  <dcterms:modified xsi:type="dcterms:W3CDTF">2025-10-09T03:32:36Z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